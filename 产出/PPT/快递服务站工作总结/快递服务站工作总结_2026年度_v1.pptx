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快递服务站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800" b="0">
                <a:solidFill>
                  <a:srgbClr val="A0C4E8"/>
                </a:solidFill>
                <a:latin typeface="微软雅黑"/>
              </a:defRPr>
            </a:pPr>
            <a:r>
              <a:t>2026 年度工作总结报告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931920"/>
            <a:ext cx="2743200" cy="25400"/>
          </a:xfrm>
          <a:prstGeom prst="rect">
            <a:avLst/>
          </a:prstGeom>
          <a:solidFill>
            <a:srgbClr val="A0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CCDDEE"/>
                </a:solidFill>
                <a:latin typeface="微软雅黑"/>
              </a:defRPr>
            </a:pPr>
            <a:r>
              <a:t>汇报人：赵英浩    |    汇报日期：2026年8月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1F4E79"/>
                </a:solidFill>
                <a:latin typeface="微软雅黑"/>
              </a:defRPr>
            </a:pPr>
            <a:r>
              <a:t>核心运营数据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2E75B6"/>
                </a:solidFill>
                <a:latin typeface="微软雅黑"/>
              </a:defRPr>
            </a:pPr>
            <a:r>
              <a:t>全年无休 · 持续服务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29184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2918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BFBFBF"/>
                </a:solidFill>
                <a:latin typeface="微软雅黑"/>
              </a:defRPr>
            </a:pPr>
            <a:r>
              <a:t>日均件量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600" b="1">
                <a:solidFill>
                  <a:srgbClr val="1F4E79"/>
                </a:solidFill>
                <a:latin typeface="微软雅黑"/>
              </a:defRPr>
            </a:pPr>
            <a:r>
              <a:t>~100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日均代收代发快件量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29184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2918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BFBFBF"/>
                </a:solidFill>
                <a:latin typeface="微软雅黑"/>
              </a:defRPr>
            </a:pPr>
            <a:r>
              <a:t>年度总件量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600" b="1">
                <a:solidFill>
                  <a:srgbClr val="1F4E79"/>
                </a:solidFill>
                <a:latin typeface="微软雅黑"/>
              </a:defRPr>
            </a:pPr>
            <a:r>
              <a:t>36,500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全年累计处理快件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737360"/>
            <a:ext cx="329184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737360"/>
            <a:ext cx="32918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BFBFBF"/>
                </a:solidFill>
                <a:latin typeface="微软雅黑"/>
              </a:defRPr>
            </a:pPr>
            <a:r>
              <a:t>服务时长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600" b="1">
                <a:solidFill>
                  <a:srgbClr val="1F4E79"/>
                </a:solidFill>
                <a:latin typeface="微软雅黑"/>
              </a:defRPr>
            </a:pPr>
            <a:r>
              <a:t>12.5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早7:00 至 晚19:30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329184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32918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BFBFBF"/>
                </a:solidFill>
                <a:latin typeface="微软雅黑"/>
              </a:defRPr>
            </a:pPr>
            <a:r>
              <a:t>差错记录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600" b="1">
                <a:solidFill>
                  <a:srgbClr val="1F4E79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全年零丢件零错发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023360"/>
            <a:ext cx="329184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023360"/>
            <a:ext cx="32918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BFBFBF"/>
                </a:solidFill>
                <a:latin typeface="微软雅黑"/>
              </a:defRPr>
            </a:pPr>
            <a:r>
              <a:t>运营天数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600" b="1">
                <a:solidFill>
                  <a:srgbClr val="1F4E79"/>
                </a:solidFill>
                <a:latin typeface="微软雅黑"/>
              </a:defRPr>
            </a:pPr>
            <a:r>
              <a:t>365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全年无休持续运营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023360"/>
            <a:ext cx="329184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4023360"/>
            <a:ext cx="32918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BFBFBF"/>
                </a:solidFill>
                <a:latin typeface="微软雅黑"/>
              </a:defRPr>
            </a:pPr>
            <a:r>
              <a:t>覆盖户数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600" b="1">
                <a:solidFill>
                  <a:srgbClr val="1F4E79"/>
                </a:solidFill>
                <a:latin typeface="微软雅黑"/>
              </a:defRPr>
            </a:pPr>
            <a:r>
              <a:t>200+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覆盖全村常住人口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快递服务站 · 2026年度工作总结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1F4E79"/>
                </a:solidFill>
                <a:latin typeface="微软雅黑"/>
              </a:defRPr>
            </a:pPr>
            <a:r>
              <a:t>日常运营概述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2E75B6"/>
                </a:solidFill>
                <a:latin typeface="微软雅黑"/>
              </a:defRPr>
            </a:pPr>
            <a:r>
              <a:t>12.5小时不间断服务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· 每天清晨7点开门，晚上7点半收摊。快递从镇上分拨中心送到村里，</a:t>
            </a:r>
          </a:p>
          <a:p>
            <a:pPr algn="l">
              <a:lnSpc>
                <a:spcPct val="180000"/>
              </a:lnSpc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· 登记、分拣、上架、通知取件——这套流程每天重复近100次。</a:t>
            </a:r>
          </a:p>
          <a:p>
            <a:pPr algn="l">
              <a:lnSpc>
                <a:spcPct val="180000"/>
              </a:lnSpc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· </a:t>
            </a:r>
          </a:p>
          <a:p>
            <a:pPr algn="l">
              <a:lnSpc>
                <a:spcPct val="180000"/>
              </a:lnSpc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· 村级代收点的核心价值是“最后一公里”：</a:t>
            </a:r>
          </a:p>
          <a:p>
            <a:pPr algn="l">
              <a:lnSpc>
                <a:spcPct val="180000"/>
              </a:lnSpc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  村民不用赶去镇上取件</a:t>
            </a:r>
          </a:p>
          <a:p>
            <a:pPr algn="l">
              <a:lnSpc>
                <a:spcPct val="180000"/>
              </a:lnSpc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    快递不用因无人签收而退回</a:t>
            </a:r>
          </a:p>
          <a:p>
            <a:pPr algn="l">
              <a:lnSpc>
                <a:spcPct val="180000"/>
              </a:lnSpc>
              <a:defRPr sz="1800" b="0">
                <a:solidFill>
                  <a:srgbClr val="333333"/>
                </a:solidFill>
                <a:latin typeface="微软雅黑"/>
              </a:defRPr>
            </a:pPr>
            <a:r>
              <a:t>· 每一件包裹，都在这里完成最后一步交接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关键时间节点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423160"/>
            <a:ext cx="13716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07:00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开门接件 · 第一批快递到达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9208" y="2651760"/>
            <a:ext cx="12700" cy="9144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3794760"/>
            <a:ext cx="13716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11-14时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取件高峰 · 村民集中来取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9208" y="4023360"/>
            <a:ext cx="12700" cy="9144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5166360"/>
            <a:ext cx="13716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19:30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当日清件 · 登记入库完毕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快递服务站 · 2026年度工作总结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1F4E79"/>
                </a:solidFill>
                <a:latin typeface="微软雅黑"/>
              </a:defRPr>
            </a:pPr>
            <a:r>
              <a:t>标准作业流程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2E75B6"/>
                </a:solidFill>
                <a:latin typeface="微软雅黑"/>
              </a:defRPr>
            </a:pPr>
            <a:r>
              <a:t>快递代收五步法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6607" y="2103120"/>
            <a:ext cx="192024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607" y="2103120"/>
            <a:ext cx="192024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607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t>接收入库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3807" y="3474720"/>
            <a:ext cx="1005840" cy="127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487" y="3657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清点数量</a:t>
            </a:r>
            <a:br/>
            <a:r>
              <a:t>核对签收单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85135" y="3200400"/>
            <a:ext cx="237744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1167" y="2103120"/>
            <a:ext cx="192024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1167" y="2103120"/>
            <a:ext cx="192024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1167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1167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t>登记编号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8367" y="3474720"/>
            <a:ext cx="1005840" cy="127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4047" y="3657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逐件录入</a:t>
            </a:r>
            <a:br/>
            <a:r>
              <a:t>生成取件码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79695" y="3200400"/>
            <a:ext cx="237744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5727" y="2103120"/>
            <a:ext cx="192024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5727" y="2103120"/>
            <a:ext cx="192024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5727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5727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t>分拣上架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92927" y="3474720"/>
            <a:ext cx="1005840" cy="127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8607" y="3657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编号分区</a:t>
            </a:r>
            <a:br/>
            <a:r>
              <a:t>便于取件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74255" y="3200400"/>
            <a:ext cx="237744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30287" y="2103120"/>
            <a:ext cx="192024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0287" y="2103120"/>
            <a:ext cx="192024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0287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0287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t>通知取件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87487" y="3474720"/>
            <a:ext cx="1005840" cy="127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3167" y="3657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短信/微信</a:t>
            </a:r>
            <a:br/>
            <a:r>
              <a:t>通知收件人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268815" y="3200400"/>
            <a:ext cx="237744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24847" y="2103120"/>
            <a:ext cx="192024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24847" y="2103120"/>
            <a:ext cx="192024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4847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1F4E79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4847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333333"/>
                </a:solidFill>
                <a:latin typeface="微软雅黑"/>
              </a:defRPr>
            </a:pPr>
            <a:r>
              <a:t>核验交付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2047" y="3474720"/>
            <a:ext cx="1005840" cy="127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7727" y="3657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凭码取件</a:t>
            </a:r>
            <a:br/>
            <a:r>
              <a:t>签字确认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120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300" b="0">
                <a:solidFill>
                  <a:srgbClr val="2E75B6"/>
                </a:solidFill>
                <a:latin typeface="微软雅黑"/>
              </a:defRPr>
            </a:pPr>
            <a:r>
              <a:t>异常处理：滞留件（超3天未取→二次通知）/ 破损件（拍照留档→联系发件方）/ 退件（登记后交镇上取件）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快递服务站 · 2026年度工作总结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 b="0">
                <a:solidFill>
                  <a:srgbClr val="A0C4E8"/>
                </a:solidFill>
                <a:latin typeface="微软雅黑"/>
              </a:defRPr>
            </a:pPr>
            <a:r>
              <a:t>第二部分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服务优化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389120"/>
            <a:ext cx="2743200" cy="25400"/>
          </a:xfrm>
          <a:prstGeom prst="rect">
            <a:avLst/>
          </a:prstGeom>
          <a:solidFill>
            <a:srgbClr val="A0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CCDDEE"/>
                </a:solidFill>
                <a:latin typeface="微软雅黑"/>
              </a:defRPr>
            </a:pPr>
            <a:r>
              <a:t>数字化记录 · 主动通知 · 效率提升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1F4E79"/>
                </a:solidFill>
                <a:latin typeface="微软雅黑"/>
              </a:defRPr>
            </a:pPr>
            <a:r>
              <a:t>服务亮点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2E75B6"/>
                </a:solidFill>
                <a:latin typeface="微软雅黑"/>
              </a:defRPr>
            </a:pPr>
            <a:r>
              <a:t>从手写到数字化 · 从被动到主动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327" y="2011680"/>
            <a:ext cx="329184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2011680"/>
            <a:ext cx="3291840" cy="91440"/>
          </a:xfrm>
          <a:prstGeom prst="rect">
            <a:avLst/>
          </a:prstGeom>
          <a:solidFill>
            <a:srgbClr val="277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468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4800" b="1">
                <a:solidFill>
                  <a:srgbClr val="277B5D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数字化登记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6727" y="4023360"/>
            <a:ext cx="1463040" cy="127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647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全部快件电子登记</a:t>
            </a:r>
            <a:br/>
            <a:r>
              <a:t>告别手写台账</a:t>
            </a:r>
            <a:br/>
            <a:r>
              <a:t>一键可查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9927" y="2011680"/>
            <a:ext cx="329184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9927" y="2011680"/>
            <a:ext cx="329184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9927" y="2468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4800" b="1">
                <a:solidFill>
                  <a:srgbClr val="C0392B"/>
                </a:solidFill>
                <a:latin typeface="微软雅黑"/>
              </a:defRPr>
            </a:pPr>
            <a:r>
              <a:t>↓40%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9927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取件效率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64327" y="4023360"/>
            <a:ext cx="1463040" cy="127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4247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取件平均等候时间降低</a:t>
            </a:r>
            <a:br/>
            <a:r>
              <a:t>编号取件替代翻找</a:t>
            </a:r>
            <a:br/>
            <a:r>
              <a:t>高峰排队减少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2011680"/>
            <a:ext cx="329184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527" y="2011680"/>
            <a:ext cx="3291840" cy="91440"/>
          </a:xfrm>
          <a:prstGeom prst="rect">
            <a:avLst/>
          </a:prstGeom>
          <a:solidFill>
            <a:srgbClr val="277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7527" y="2468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4800" b="1">
                <a:solidFill>
                  <a:srgbClr val="277B5D"/>
                </a:solidFill>
                <a:latin typeface="微软雅黑"/>
              </a:defRPr>
            </a:pPr>
            <a:r>
              <a:t>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527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满意度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1927" y="4023360"/>
            <a:ext cx="1463040" cy="127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1847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村民满意度调查</a:t>
            </a:r>
            <a:br/>
            <a:r>
              <a:t>全年零投诉</a:t>
            </a:r>
            <a:br/>
            <a:r>
              <a:t>服务认可度高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快递服务站 · 2026年度工作总结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1F4E79"/>
                </a:solidFill>
                <a:latin typeface="微软雅黑"/>
              </a:defRPr>
            </a:pPr>
            <a:r>
              <a:t>改进前后对比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2E75B6"/>
                </a:solidFill>
                <a:latin typeface="微软雅黑"/>
              </a:defRPr>
            </a:pPr>
            <a:r>
              <a:t>从手写台账到数字化管理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484632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4846320" cy="4572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Before · 传统模式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✗ 纸质本登记，字迹模糊难辨认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✗ 取件靠翻找，高峰期排队等待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✗ 通知靠口口相传，常有人忘取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✗ 滞留件无跟踪，3天后才知道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✗ 月度统计手工汇总，耗时半天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737360"/>
            <a:ext cx="484632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48463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8105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After · 数字化模式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✓ 扫码录入系统，自动生成取件码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✓ 编号分区上架，凭码秒取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✓ 短信/微信自动通知到人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✓ 超期自动预警，主动二次通知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46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✓ 一键导出月报，数据实时可查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快递服务站 · 2026年度工作总结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 b="0">
                <a:solidFill>
                  <a:srgbClr val="A0C4E8"/>
                </a:solidFill>
                <a:latin typeface="微软雅黑"/>
              </a:defRPr>
            </a:pPr>
            <a: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村级快递代收，</a:t>
            </a:r>
            <a:br/>
            <a:r>
              <a:t>下一步怎么走？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572000"/>
            <a:ext cx="2743200" cy="25400"/>
          </a:xfrm>
          <a:prstGeom prst="rect">
            <a:avLst/>
          </a:prstGeom>
          <a:solidFill>
            <a:srgbClr val="A0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800" b="0">
                <a:solidFill>
                  <a:srgbClr val="CCDDEE"/>
                </a:solidFill>
                <a:latin typeface="微软雅黑"/>
              </a:defRPr>
            </a:pPr>
            <a:r>
              <a:t>快递量趋稳，但服务边界还可以更宽——</a:t>
            </a:r>
            <a:br/>
            <a:r>
              <a:t>代收之外，还能为村民做什么？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200" b="1">
                <a:solidFill>
                  <a:srgbClr val="1F4E79"/>
                </a:solidFill>
                <a:latin typeface="微软雅黑"/>
              </a:defRPr>
            </a:pPr>
            <a:r>
              <a:t>服务理念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2E75B6"/>
                </a:solidFill>
                <a:latin typeface="微软雅黑"/>
              </a:defRPr>
            </a:pPr>
            <a:r>
              <a:t>村级快递代收点的价值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8000" b="1">
                <a:solidFill>
                  <a:srgbClr val="D6E4F0"/>
                </a:solidFill>
                <a:latin typeface="微软雅黑"/>
              </a:defRPr>
            </a:pPr>
            <a: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5603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4000" b="1">
                <a:solidFill>
                  <a:srgbClr val="1F4E79"/>
                </a:solidFill>
                <a:latin typeface="微软雅黑"/>
              </a:defRPr>
            </a:pPr>
            <a:r>
              <a:t>最后一步路，</a:t>
            </a:r>
            <a:br/>
            <a:r>
              <a:t>交给我来走。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村级快递代收点的意义，不在于量大，而在于“有人在”。</a:t>
            </a:r>
            <a:br/>
            <a:r>
              <a:t>全年365天，早7到晚7半，始终在这里。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BFBFBF"/>
                </a:solidFill>
                <a:latin typeface="微软雅黑"/>
              </a:defRPr>
            </a:pPr>
            <a:r>
              <a:t>—— 快递服务站 · 2026年度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快递服务站 · 2026年度工作总结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 sz="1000" b="0">
                <a:solidFill>
                  <a:srgbClr val="BFBFBF"/>
                </a:solidFill>
                <a:latin typeface="微软雅黑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感谢倾听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 b="0">
                <a:solidFill>
                  <a:srgbClr val="A0C4E8"/>
                </a:solidFill>
                <a:latin typeface="微软雅黑"/>
              </a:defRPr>
            </a:pPr>
            <a:r>
              <a:t>2026 年度快递服务站工作总结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2743200" cy="25400"/>
          </a:xfrm>
          <a:prstGeom prst="rect">
            <a:avLst/>
          </a:prstGeom>
          <a:solidFill>
            <a:srgbClr val="A0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defRPr sz="1600" b="0">
                <a:solidFill>
                  <a:srgbClr val="CCDDEE"/>
                </a:solidFill>
                <a:latin typeface="微软雅黑"/>
              </a:defRPr>
            </a:pPr>
            <a:r>
              <a:t>全年365天 · 36,500件快递 · 日均12.5小时服务</a:t>
            </a:r>
            <a:br/>
            <a:r>
              <a:t>每一件都安全送达，每一天都坚守在这里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99BBDD"/>
                </a:solidFill>
                <a:latin typeface="微软雅黑"/>
              </a:defRPr>
            </a:pPr>
            <a:r>
              <a:t>汇报人：赵英浩    |    快递服务站    |    2026.08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