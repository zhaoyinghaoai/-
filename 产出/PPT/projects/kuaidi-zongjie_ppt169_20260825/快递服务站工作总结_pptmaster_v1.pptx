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uaidi-zongji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uaidi-zongji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8A53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532632" y="2308860"/>
            <a:ext cx="5126736" cy="2217229"/>
            <a:chOff x="3532632" y="2308860"/>
            <a:chExt cx="5126736" cy="2217229"/>
          </a:xfrm>
        </p:grpSpPr>
        <p:sp>
          <p:nvSpPr>
            <p:cNvPr id="3" name="TextBox 3"/>
            <p:cNvSpPr txBox="1"/>
            <p:nvPr/>
          </p:nvSpPr>
          <p:spPr>
            <a:xfrm>
              <a:off x="3532632" y="230886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快递服务站工作总结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0" y="3143250"/>
              <a:ext cx="1905000" cy="28575"/>
            </a:xfrm>
            <a:prstGeom prst="rect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405323" y="3550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2026年度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10188" y="42033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AABF"/>
                  </a:solidFill>
                  <a:latin typeface="Microsoft YaHei"/>
                  <a:ea typeface="Microsoft YaHei"/>
                  <a:cs typeface="Microsoft YaHei"/>
                </a:rPr>
                <a:t>村级快递代收点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11173" y="6124575"/>
            <a:ext cx="25696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A9DB5"/>
                </a:solidFill>
                <a:latin typeface="Microsoft YaHei"/>
                <a:ea typeface="Microsoft YaHei"/>
                <a:cs typeface="Microsoft YaHei"/>
              </a:rPr>
              <a:t>汇报人：赵英浩 | 2026年8月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236470" cy="695706"/>
            <a:chOff x="762000" y="476250"/>
            <a:chExt cx="2236470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核心数据一览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2026年度运营关键指标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524000"/>
            <a:ext cx="3429000" cy="2286000"/>
            <a:chOff x="762000" y="1524000"/>
            <a:chExt cx="3429000" cy="22860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67669" y="19278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100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11419" y="2600325"/>
              <a:ext cx="530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件/天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061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日均件量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524000"/>
            <a:ext cx="3429000" cy="2286000"/>
            <a:chOff x="4381500" y="1524000"/>
            <a:chExt cx="34290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52400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97388" y="1927860"/>
              <a:ext cx="199722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36,500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87415" y="26003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4799" y="3188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年度总件量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01000" y="1524000"/>
            <a:ext cx="3429000" cy="2286000"/>
            <a:chOff x="8001000" y="1524000"/>
            <a:chExt cx="34290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8001000" y="152400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43408" y="1927860"/>
              <a:ext cx="134418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12.5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49454" y="2600325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小时/天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451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服务时长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4095750"/>
            <a:ext cx="3429000" cy="2286000"/>
            <a:chOff x="762000" y="4095750"/>
            <a:chExt cx="3429000" cy="2286000"/>
          </a:xfrm>
        </p:grpSpPr>
        <p:sp>
          <p:nvSpPr>
            <p:cNvPr id="24" name="Rectangle 24"/>
            <p:cNvSpPr/>
            <p:nvPr/>
          </p:nvSpPr>
          <p:spPr>
            <a:xfrm>
              <a:off x="762000" y="409575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40957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94190" y="44996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7915" y="51720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79220" y="5759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差错记录（零丢件零错发）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4095750"/>
            <a:ext cx="3429000" cy="2286000"/>
            <a:chOff x="4381500" y="4095750"/>
            <a:chExt cx="3429000" cy="2286000"/>
          </a:xfrm>
        </p:grpSpPr>
        <p:sp>
          <p:nvSpPr>
            <p:cNvPr id="30" name="Rectangle 30"/>
            <p:cNvSpPr/>
            <p:nvPr/>
          </p:nvSpPr>
          <p:spPr>
            <a:xfrm>
              <a:off x="4381500" y="409575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40957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87169" y="44996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365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7415" y="51720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80457" y="5759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运营天数（全年无休）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4095750"/>
            <a:ext cx="3429000" cy="2286000"/>
            <a:chOff x="8001000" y="4095750"/>
            <a:chExt cx="3429000" cy="2286000"/>
          </a:xfrm>
        </p:grpSpPr>
        <p:sp>
          <p:nvSpPr>
            <p:cNvPr id="36" name="Rectangle 36"/>
            <p:cNvSpPr/>
            <p:nvPr/>
          </p:nvSpPr>
          <p:spPr>
            <a:xfrm>
              <a:off x="8001000" y="4095750"/>
              <a:ext cx="3429000" cy="2286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01000" y="40957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3408" y="4499610"/>
              <a:ext cx="134418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200+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06915" y="51720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8220" y="5759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覆盖户数（全村常住人口）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496922" cy="695706"/>
            <a:chOff x="762000" y="476250"/>
            <a:chExt cx="2496922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日常运营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每天重复近100次的标准化流程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619250"/>
            <a:ext cx="5334000" cy="2667000"/>
            <a:chOff x="762000" y="1619250"/>
            <a:chExt cx="5334000" cy="266700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2028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运营概述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521268"/>
              <a:ext cx="2774061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每天清晨7点开门，晚上7点半收摊。</a:t>
              </a:r>
              <a:br/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快递从镇上分拨中心送到村里，</a:t>
              </a:r>
              <a:br/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登记、分拣、上架、通知取件</a:t>
              </a:r>
              <a:br/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——这套流程每天重复近100次。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43000" y="3810000"/>
              <a:ext cx="4572000" cy="190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69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核心价值：最后一公里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619250"/>
            <a:ext cx="4953000" cy="2676906"/>
            <a:chOff x="6477000" y="1619250"/>
            <a:chExt cx="4953000" cy="2676906"/>
          </a:xfrm>
        </p:grpSpPr>
        <p:sp>
          <p:nvSpPr>
            <p:cNvPr id="12" name="Rectangle 12"/>
            <p:cNvSpPr/>
            <p:nvPr/>
          </p:nvSpPr>
          <p:spPr>
            <a:xfrm>
              <a:off x="6477000" y="1619250"/>
              <a:ext cx="4953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0380" y="2028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关键时间节点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26670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28575">
              <a:solidFill>
                <a:srgbClr val="3B82C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143750" y="2667000"/>
              <a:ext cx="190500" cy="190500"/>
            </a:xfrm>
            <a:prstGeom prst="ellipse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6368" y="263175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07:00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8654" y="29184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开门接件，第一批快递到达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43750" y="3238500"/>
              <a:ext cx="190500" cy="190500"/>
            </a:xfrm>
            <a:prstGeom prst="ellipse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16368" y="3203258"/>
              <a:ext cx="880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11-14时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8654" y="34899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取件高峰，村民集中来取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43750" y="3810000"/>
              <a:ext cx="190500" cy="190500"/>
            </a:xfrm>
            <a:prstGeom prst="ellipse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16368" y="377475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19:30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8654" y="4061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当日清件，登记入库完毕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4667250"/>
            <a:ext cx="10668000" cy="1714500"/>
            <a:chOff x="762000" y="4667250"/>
            <a:chExt cx="10668000" cy="1714500"/>
          </a:xfrm>
        </p:grpSpPr>
        <p:sp>
          <p:nvSpPr>
            <p:cNvPr id="25" name="Rectangle 25"/>
            <p:cNvSpPr/>
            <p:nvPr/>
          </p:nvSpPr>
          <p:spPr>
            <a:xfrm>
              <a:off x="762000" y="4667250"/>
              <a:ext cx="10668000" cy="1714500"/>
            </a:xfrm>
            <a:prstGeom prst="roundRect">
              <a:avLst>
                <a:gd name="adj" fmla="val 8889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88466" y="5155882"/>
              <a:ext cx="3815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村级代收点的核心价值是"最后一公里"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9166" y="55692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村民不用赶去镇上取件，快递不用因无人签收而退回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3509" y="59502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每一件包裹，都在这里完成最后一步交接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319223" cy="695706"/>
            <a:chOff x="762000" y="476250"/>
            <a:chExt cx="2319223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标准作业流程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203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每一件包裹的5步标准化流转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2095500"/>
            <a:ext cx="1905000" cy="2667000"/>
            <a:chOff x="762000" y="2095500"/>
            <a:chExt cx="1905000" cy="2667000"/>
          </a:xfrm>
        </p:grpSpPr>
        <p:sp>
          <p:nvSpPr>
            <p:cNvPr id="6" name="Rectangle 6"/>
            <p:cNvSpPr/>
            <p:nvPr/>
          </p:nvSpPr>
          <p:spPr>
            <a:xfrm>
              <a:off x="762000" y="2095500"/>
              <a:ext cx="1905000" cy="2667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095500"/>
              <a:ext cx="1905000" cy="571500"/>
            </a:xfrm>
            <a:prstGeom prst="roundRect">
              <a:avLst>
                <a:gd name="adj" fmla="val 26667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514600"/>
              <a:ext cx="1905000" cy="1524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5419" y="22631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4950" y="3057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接收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7404" y="3394710"/>
              <a:ext cx="774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清点数量</a:t>
              </a:r>
              <a:br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核对签收单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62250" y="3190875"/>
            <a:ext cx="381000" cy="476250"/>
            <a:chOff x="2762250" y="3190875"/>
            <a:chExt cx="381000" cy="476250"/>
          </a:xfrm>
        </p:grpSpPr>
        <p:sp>
          <p:nvSpPr>
            <p:cNvPr id="13" name="Polygon 13"/>
            <p:cNvSpPr/>
            <p:nvPr/>
          </p:nvSpPr>
          <p:spPr>
            <a:xfrm>
              <a:off x="2762250" y="3190875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381000" y="238125"/>
                  </a:lnTo>
                  <a:lnTo>
                    <a:pt x="190500" y="476250"/>
                  </a:lnTo>
                  <a:lnTo>
                    <a:pt x="1905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3B82C4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238500" y="2095500"/>
            <a:ext cx="1905000" cy="2667000"/>
            <a:chOff x="3238500" y="2095500"/>
            <a:chExt cx="1905000" cy="2667000"/>
          </a:xfrm>
        </p:grpSpPr>
        <p:sp>
          <p:nvSpPr>
            <p:cNvPr id="15" name="Rectangle 15"/>
            <p:cNvSpPr/>
            <p:nvPr/>
          </p:nvSpPr>
          <p:spPr>
            <a:xfrm>
              <a:off x="3238500" y="2095500"/>
              <a:ext cx="1905000" cy="2667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38500" y="2095500"/>
              <a:ext cx="1905000" cy="571500"/>
            </a:xfrm>
            <a:prstGeom prst="roundRect">
              <a:avLst>
                <a:gd name="adj" fmla="val 26667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238500" y="2514600"/>
              <a:ext cx="1905000" cy="152400"/>
            </a:xfrm>
            <a:prstGeom prst="rect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41919" y="22631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1450" y="3057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登记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27704" y="3394710"/>
              <a:ext cx="926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逐件录入</a:t>
              </a:r>
              <a:br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生成取件编码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38750" y="3190875"/>
            <a:ext cx="381000" cy="476250"/>
            <a:chOff x="5238750" y="3190875"/>
            <a:chExt cx="381000" cy="476250"/>
          </a:xfrm>
        </p:grpSpPr>
        <p:sp>
          <p:nvSpPr>
            <p:cNvPr id="22" name="Polygon 22"/>
            <p:cNvSpPr/>
            <p:nvPr/>
          </p:nvSpPr>
          <p:spPr>
            <a:xfrm>
              <a:off x="5238750" y="3190875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381000" y="238125"/>
                  </a:lnTo>
                  <a:lnTo>
                    <a:pt x="190500" y="476250"/>
                  </a:lnTo>
                  <a:lnTo>
                    <a:pt x="1905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3B82C4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0" y="2095500"/>
            <a:ext cx="1905000" cy="2667000"/>
            <a:chOff x="5715000" y="2095500"/>
            <a:chExt cx="1905000" cy="2667000"/>
          </a:xfrm>
        </p:grpSpPr>
        <p:sp>
          <p:nvSpPr>
            <p:cNvPr id="24" name="Rectangle 24"/>
            <p:cNvSpPr/>
            <p:nvPr/>
          </p:nvSpPr>
          <p:spPr>
            <a:xfrm>
              <a:off x="5715000" y="2095500"/>
              <a:ext cx="1905000" cy="2667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0" y="2095500"/>
              <a:ext cx="1905000" cy="571500"/>
            </a:xfrm>
            <a:prstGeom prst="roundRect">
              <a:avLst>
                <a:gd name="adj" fmla="val 26667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0" y="2514600"/>
              <a:ext cx="1905000" cy="1524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419" y="22631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7950" y="3057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分拣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6604" y="3394710"/>
              <a:ext cx="6217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编号分区</a:t>
              </a:r>
              <a:br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便于取件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715250" y="3190875"/>
            <a:ext cx="381000" cy="476250"/>
            <a:chOff x="7715250" y="3190875"/>
            <a:chExt cx="381000" cy="476250"/>
          </a:xfrm>
        </p:grpSpPr>
        <p:sp>
          <p:nvSpPr>
            <p:cNvPr id="31" name="Polygon 31"/>
            <p:cNvSpPr/>
            <p:nvPr/>
          </p:nvSpPr>
          <p:spPr>
            <a:xfrm>
              <a:off x="7715250" y="3190875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381000" y="238125"/>
                  </a:lnTo>
                  <a:lnTo>
                    <a:pt x="190500" y="476250"/>
                  </a:lnTo>
                  <a:lnTo>
                    <a:pt x="1905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3B82C4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8191500" y="2095500"/>
            <a:ext cx="1905000" cy="2667000"/>
            <a:chOff x="8191500" y="2095500"/>
            <a:chExt cx="1905000" cy="2667000"/>
          </a:xfrm>
        </p:grpSpPr>
        <p:sp>
          <p:nvSpPr>
            <p:cNvPr id="33" name="Rectangle 33"/>
            <p:cNvSpPr/>
            <p:nvPr/>
          </p:nvSpPr>
          <p:spPr>
            <a:xfrm>
              <a:off x="8191500" y="2095500"/>
              <a:ext cx="1905000" cy="2667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91500" y="2095500"/>
              <a:ext cx="1905000" cy="571500"/>
            </a:xfrm>
            <a:prstGeom prst="roundRect">
              <a:avLst>
                <a:gd name="adj" fmla="val 26667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91500" y="2514600"/>
              <a:ext cx="1905000" cy="152400"/>
            </a:xfrm>
            <a:prstGeom prst="rect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94919" y="22631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34450" y="3057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通知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904" y="3394710"/>
              <a:ext cx="774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短信/微信</a:t>
              </a:r>
              <a:br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通知收件人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191750" y="3190875"/>
            <a:ext cx="381000" cy="476250"/>
            <a:chOff x="10191750" y="3190875"/>
            <a:chExt cx="381000" cy="476250"/>
          </a:xfrm>
        </p:grpSpPr>
        <p:sp>
          <p:nvSpPr>
            <p:cNvPr id="40" name="Polygon 40"/>
            <p:cNvSpPr/>
            <p:nvPr/>
          </p:nvSpPr>
          <p:spPr>
            <a:xfrm>
              <a:off x="10191750" y="3190875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381000" y="238125"/>
                  </a:lnTo>
                  <a:lnTo>
                    <a:pt x="190500" y="476250"/>
                  </a:lnTo>
                  <a:lnTo>
                    <a:pt x="1905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3B82C4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668000" y="2095500"/>
            <a:ext cx="762000" cy="2667000"/>
            <a:chOff x="10668000" y="2095500"/>
            <a:chExt cx="762000" cy="2667000"/>
          </a:xfrm>
        </p:grpSpPr>
        <p:sp>
          <p:nvSpPr>
            <p:cNvPr id="42" name="Rectangle 42"/>
            <p:cNvSpPr/>
            <p:nvPr/>
          </p:nvSpPr>
          <p:spPr>
            <a:xfrm>
              <a:off x="10668000" y="2095500"/>
              <a:ext cx="762000" cy="2667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668000" y="2095500"/>
              <a:ext cx="762000" cy="571500"/>
            </a:xfrm>
            <a:prstGeom prst="roundRect">
              <a:avLst>
                <a:gd name="adj" fmla="val 26667"/>
              </a:avLst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668000" y="2514600"/>
              <a:ext cx="762000" cy="152400"/>
            </a:xfrm>
            <a:prstGeom prst="rect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99919" y="22631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60405" y="3073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交付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76966" y="3410902"/>
              <a:ext cx="5440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凭码取件</a:t>
              </a:r>
              <a:br/>
              <a:r>
                <a:rPr lang="zh-CN" sz="105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签字确认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391918" cy="695706"/>
            <a:chOff x="762000" y="476250"/>
            <a:chExt cx="2391918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异常处理机制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三类异常情况的标准应对方案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714500"/>
            <a:ext cx="3429000" cy="4381500"/>
            <a:chOff x="762000" y="1714500"/>
            <a:chExt cx="3429000" cy="4381500"/>
          </a:xfrm>
        </p:grpSpPr>
        <p:sp>
          <p:nvSpPr>
            <p:cNvPr id="6" name="Rectangle 6"/>
            <p:cNvSpPr/>
            <p:nvPr/>
          </p:nvSpPr>
          <p:spPr>
            <a:xfrm>
              <a:off x="762000" y="1714500"/>
              <a:ext cx="3429000" cy="4381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762000"/>
            </a:xfrm>
            <a:prstGeom prst="roundRect">
              <a:avLst>
                <a:gd name="adj" fmla="val 20000"/>
              </a:avLst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286000"/>
              <a:ext cx="3429000" cy="190500"/>
            </a:xfrm>
            <a:prstGeom prst="rect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41779" y="19640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滞留件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53691" y="2997518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超3天未取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333500" y="3429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6142" y="3759518"/>
              <a:ext cx="1719644" cy="1026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1. 系统自动预警提醒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2. 二次短信/微信通知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3. 上门提醒村民取件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533400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62684" y="5509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92400E"/>
                  </a:solidFill>
                  <a:latin typeface="Microsoft YaHei"/>
                  <a:ea typeface="Microsoft YaHei"/>
                  <a:cs typeface="Microsoft YaHei"/>
                </a:rPr>
                <a:t>主动跟进，不被动等待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81500" y="1714500"/>
            <a:ext cx="3429000" cy="4381500"/>
            <a:chOff x="4381500" y="1714500"/>
            <a:chExt cx="3429000" cy="43815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714500"/>
              <a:ext cx="3429000" cy="4381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81500" y="1714500"/>
              <a:ext cx="3429000" cy="762000"/>
            </a:xfrm>
            <a:prstGeom prst="roundRect">
              <a:avLst>
                <a:gd name="adj" fmla="val 20000"/>
              </a:avLst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2286000"/>
              <a:ext cx="3429000" cy="190500"/>
            </a:xfrm>
            <a:prstGeom prst="rect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1279" y="19640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破损件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43931" y="2997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运输途中损坏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953000" y="3429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55642" y="3759518"/>
              <a:ext cx="1453896" cy="1026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1. 当场拍照留档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2. 联系发件方协商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3. 协助理赔或补发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762500" y="533400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62956" y="5509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40AF"/>
                  </a:solidFill>
                  <a:latin typeface="Microsoft YaHei"/>
                  <a:ea typeface="Microsoft YaHei"/>
                  <a:cs typeface="Microsoft YaHei"/>
                </a:rPr>
                <a:t>证据先行，责任清晰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01000" y="1714500"/>
            <a:ext cx="3429000" cy="4381500"/>
            <a:chOff x="8001000" y="1714500"/>
            <a:chExt cx="3429000" cy="4381500"/>
          </a:xfrm>
        </p:grpSpPr>
        <p:sp>
          <p:nvSpPr>
            <p:cNvPr id="26" name="Rectangle 26"/>
            <p:cNvSpPr/>
            <p:nvPr/>
          </p:nvSpPr>
          <p:spPr>
            <a:xfrm>
              <a:off x="8001000" y="1714500"/>
              <a:ext cx="3429000" cy="4381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1714500"/>
              <a:ext cx="3429000" cy="762000"/>
            </a:xfrm>
            <a:prstGeom prst="roundRect">
              <a:avLst>
                <a:gd name="adj" fmla="val 2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0" y="2286000"/>
              <a:ext cx="3429000" cy="1905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22130" y="19640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退件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63431" y="2997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村民委托退回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0" y="3429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5142" y="3759518"/>
              <a:ext cx="1282446" cy="1026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1. 登记退件信息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2. 交镇上取件点</a:t>
              </a:r>
            </a:p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3. 跟踪退回状态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0" y="533400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E0E7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82456" y="5509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730A3"/>
                  </a:solidFill>
                  <a:latin typeface="Microsoft YaHei"/>
                  <a:ea typeface="Microsoft YaHei"/>
                  <a:cs typeface="Microsoft YaHei"/>
                </a:rPr>
                <a:t>完整记录，全程可查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230374" cy="695706"/>
            <a:chOff x="762000" y="476250"/>
            <a:chExt cx="2230374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服务亮点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AABF"/>
                  </a:solidFill>
                  <a:latin typeface="Microsoft YaHei"/>
                  <a:ea typeface="Microsoft YaHei"/>
                  <a:cs typeface="Microsoft YaHei"/>
                </a:rPr>
                <a:t>数字化升级带来的三大改变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905000"/>
            <a:ext cx="3429000" cy="3810000"/>
            <a:chOff x="762000" y="1905000"/>
            <a:chExt cx="3429000" cy="3810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429000" cy="3810000"/>
            </a:xfrm>
            <a:prstGeom prst="roundRect">
              <a:avLst>
                <a:gd name="adj" fmla="val 5556"/>
              </a:avLst>
            </a:prstGeom>
            <a:solidFill>
              <a:srgbClr val="244B7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41496" y="2560320"/>
              <a:ext cx="187000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12810" y="34413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数字化登记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5240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3B609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60804" y="4251960"/>
              <a:ext cx="123139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全部快件电子登记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告别手写台账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一键可查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905000"/>
            <a:ext cx="3429000" cy="3810000"/>
            <a:chOff x="4381500" y="1905000"/>
            <a:chExt cx="3429000" cy="3810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905000"/>
              <a:ext cx="3429000" cy="3810000"/>
            </a:xfrm>
            <a:prstGeom prst="roundRect">
              <a:avLst>
                <a:gd name="adj" fmla="val 5556"/>
              </a:avLst>
            </a:prstGeom>
            <a:solidFill>
              <a:srgbClr val="244B7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70902" y="2560320"/>
              <a:ext cx="145019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1249" y="3441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取件效率提升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1435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3B609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80304" y="4251960"/>
              <a:ext cx="123139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编号取件替代翻找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高峰排队减少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村民等待时间缩短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01000" y="1905000"/>
            <a:ext cx="3429000" cy="3810000"/>
            <a:chOff x="8001000" y="1905000"/>
            <a:chExt cx="3429000" cy="3810000"/>
          </a:xfrm>
        </p:grpSpPr>
        <p:sp>
          <p:nvSpPr>
            <p:cNvPr id="18" name="Rectangle 18"/>
            <p:cNvSpPr/>
            <p:nvPr/>
          </p:nvSpPr>
          <p:spPr>
            <a:xfrm>
              <a:off x="8001000" y="1905000"/>
              <a:ext cx="3429000" cy="3810000"/>
            </a:xfrm>
            <a:prstGeom prst="roundRect">
              <a:avLst>
                <a:gd name="adj" fmla="val 5556"/>
              </a:avLst>
            </a:prstGeom>
            <a:solidFill>
              <a:srgbClr val="244B7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0402" y="2560320"/>
              <a:ext cx="145019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98%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51810" y="34413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村民满意度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7630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3B609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99804" y="4251960"/>
              <a:ext cx="123139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村民满意度调查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全年零投诉</a:t>
              </a:r>
              <a:br/>
              <a:r>
                <a:rPr lang="zh-CN" sz="120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服务口碑持续积累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AAB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3528822" cy="695706"/>
            <a:chOff x="762000" y="476250"/>
            <a:chExt cx="3528822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8B95A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改进前：传统模式痛点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数字化升级之前的运营困境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714500"/>
            <a:ext cx="5143500" cy="904875"/>
            <a:chOff x="762000" y="1714500"/>
            <a:chExt cx="5143500" cy="904875"/>
          </a:xfrm>
        </p:grpSpPr>
        <p:sp>
          <p:nvSpPr>
            <p:cNvPr id="6" name="Rectangle 6"/>
            <p:cNvSpPr/>
            <p:nvPr/>
          </p:nvSpPr>
          <p:spPr>
            <a:xfrm>
              <a:off x="762000" y="1714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1933575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2323" y="2066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9255" y="19526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纸质本登记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779" y="22517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字迹模糊难辨认，查件全靠翻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714500"/>
            <a:ext cx="5143500" cy="904875"/>
            <a:chOff x="6286500" y="1714500"/>
            <a:chExt cx="5143500" cy="904875"/>
          </a:xfrm>
        </p:grpSpPr>
        <p:sp>
          <p:nvSpPr>
            <p:cNvPr id="12" name="Rectangle 12"/>
            <p:cNvSpPr/>
            <p:nvPr/>
          </p:nvSpPr>
          <p:spPr>
            <a:xfrm>
              <a:off x="6286500" y="1714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34150" y="1933575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96823" y="2066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3755" y="19526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取件靠翻找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5279" y="2251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高峰期排队等待，体验差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857500"/>
            <a:ext cx="5143500" cy="904875"/>
            <a:chOff x="762000" y="2857500"/>
            <a:chExt cx="5143500" cy="904875"/>
          </a:xfrm>
        </p:grpSpPr>
        <p:sp>
          <p:nvSpPr>
            <p:cNvPr id="18" name="Rectangle 18"/>
            <p:cNvSpPr/>
            <p:nvPr/>
          </p:nvSpPr>
          <p:spPr>
            <a:xfrm>
              <a:off x="762000" y="2857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09650" y="3076575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72323" y="3209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9255" y="3095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通知靠口口相传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0779" y="3394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常有人忘取，滞留件频发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2857500"/>
            <a:ext cx="5143500" cy="904875"/>
            <a:chOff x="6286500" y="2857500"/>
            <a:chExt cx="5143500" cy="904875"/>
          </a:xfrm>
        </p:grpSpPr>
        <p:sp>
          <p:nvSpPr>
            <p:cNvPr id="24" name="Rectangle 24"/>
            <p:cNvSpPr/>
            <p:nvPr/>
          </p:nvSpPr>
          <p:spPr>
            <a:xfrm>
              <a:off x="6286500" y="2857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534150" y="3076575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96823" y="3209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3755" y="3095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滞留件无跟踪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279" y="339471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3天后才知道，被动滞后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000500"/>
            <a:ext cx="10668000" cy="904875"/>
            <a:chOff x="762000" y="4000500"/>
            <a:chExt cx="10668000" cy="904875"/>
          </a:xfrm>
        </p:grpSpPr>
        <p:sp>
          <p:nvSpPr>
            <p:cNvPr id="30" name="Rectangle 30"/>
            <p:cNvSpPr/>
            <p:nvPr/>
          </p:nvSpPr>
          <p:spPr>
            <a:xfrm>
              <a:off x="762000" y="4000500"/>
              <a:ext cx="106680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09650" y="4219575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72323" y="4352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59255" y="42386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月度统计手工汇总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60779" y="45377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耗时半天，数据不准，无法实时查看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5238750"/>
            <a:ext cx="10668000" cy="1143000"/>
            <a:chOff x="762000" y="5238750"/>
            <a:chExt cx="10668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3875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54880" y="5679758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2400E"/>
                  </a:solidFill>
                  <a:latin typeface="Microsoft YaHei"/>
                  <a:ea typeface="Microsoft YaHei"/>
                  <a:cs typeface="Microsoft YaHei"/>
                </a:rPr>
                <a:t>效率低、体验差、数据滞后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3205734" cy="695706"/>
            <a:chOff x="762000" y="476250"/>
            <a:chExt cx="3205734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3B82C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改进后：数字化模式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系统化升级带来的全面提升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714500"/>
            <a:ext cx="5143500" cy="904875"/>
            <a:chOff x="762000" y="1714500"/>
            <a:chExt cx="5143500" cy="904875"/>
          </a:xfrm>
        </p:grpSpPr>
        <p:sp>
          <p:nvSpPr>
            <p:cNvPr id="6" name="Rectangle 6"/>
            <p:cNvSpPr/>
            <p:nvPr/>
          </p:nvSpPr>
          <p:spPr>
            <a:xfrm>
              <a:off x="762000" y="1714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1933575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2323" y="2066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9255" y="1952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扫码录入系统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779" y="22517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自动生成取件码，告别手写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714500"/>
            <a:ext cx="5143500" cy="904875"/>
            <a:chOff x="6286500" y="1714500"/>
            <a:chExt cx="5143500" cy="904875"/>
          </a:xfrm>
        </p:grpSpPr>
        <p:sp>
          <p:nvSpPr>
            <p:cNvPr id="12" name="Rectangle 12"/>
            <p:cNvSpPr/>
            <p:nvPr/>
          </p:nvSpPr>
          <p:spPr>
            <a:xfrm>
              <a:off x="6286500" y="1714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34150" y="1933575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96823" y="2066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3755" y="1952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编号分区上架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5279" y="2251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凭码秒取，高峰不再排队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857500"/>
            <a:ext cx="5143500" cy="904875"/>
            <a:chOff x="762000" y="2857500"/>
            <a:chExt cx="5143500" cy="904875"/>
          </a:xfrm>
        </p:grpSpPr>
        <p:sp>
          <p:nvSpPr>
            <p:cNvPr id="18" name="Rectangle 18"/>
            <p:cNvSpPr/>
            <p:nvPr/>
          </p:nvSpPr>
          <p:spPr>
            <a:xfrm>
              <a:off x="762000" y="2857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09650" y="3076575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72323" y="3209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9255" y="3095625"/>
              <a:ext cx="1747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短信/微信自动通知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0779" y="3394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通知到人，无人遗漏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2857500"/>
            <a:ext cx="5143500" cy="904875"/>
            <a:chOff x="6286500" y="2857500"/>
            <a:chExt cx="5143500" cy="904875"/>
          </a:xfrm>
        </p:grpSpPr>
        <p:sp>
          <p:nvSpPr>
            <p:cNvPr id="24" name="Rectangle 24"/>
            <p:cNvSpPr/>
            <p:nvPr/>
          </p:nvSpPr>
          <p:spPr>
            <a:xfrm>
              <a:off x="6286500" y="2857500"/>
              <a:ext cx="51435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534150" y="3076575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96823" y="3209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3755" y="3095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超期自动预警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279" y="33947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主动二次通知，滞留件大幅减少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000500"/>
            <a:ext cx="10668000" cy="904875"/>
            <a:chOff x="762000" y="4000500"/>
            <a:chExt cx="10668000" cy="904875"/>
          </a:xfrm>
        </p:grpSpPr>
        <p:sp>
          <p:nvSpPr>
            <p:cNvPr id="30" name="Rectangle 30"/>
            <p:cNvSpPr/>
            <p:nvPr/>
          </p:nvSpPr>
          <p:spPr>
            <a:xfrm>
              <a:off x="762000" y="4000500"/>
              <a:ext cx="106680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09650" y="4219575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72323" y="4352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59255" y="4238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一键导出月报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60779" y="45377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数据实时可查，统计从半天变一键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5238750"/>
            <a:ext cx="10668000" cy="1143000"/>
            <a:chOff x="762000" y="5238750"/>
            <a:chExt cx="10668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3875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35623" y="5679758"/>
              <a:ext cx="352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效率提升40% | 零差错 | 98%满意度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2715006" cy="695706"/>
            <a:chOff x="762000" y="476250"/>
            <a:chExt cx="2715006" cy="695706"/>
          </a:xfrm>
        </p:grpSpPr>
        <p:sp>
          <p:nvSpPr>
            <p:cNvPr id="2" name="Rectangle 2"/>
            <p:cNvSpPr/>
            <p:nvPr/>
          </p:nvSpPr>
          <p:spPr>
            <a:xfrm>
              <a:off x="762000" y="476250"/>
              <a:ext cx="76200" cy="3810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5558" y="5505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下一步挑战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1654" y="9372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快递量趋稳，服务边界还可以更宽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96868" y="2373630"/>
            <a:ext cx="4398264" cy="1370838"/>
            <a:chOff x="3896868" y="2373630"/>
            <a:chExt cx="4398264" cy="1370838"/>
          </a:xfrm>
        </p:grpSpPr>
        <p:sp>
          <p:nvSpPr>
            <p:cNvPr id="6" name="TextBox 6"/>
            <p:cNvSpPr txBox="1"/>
            <p:nvPr/>
          </p:nvSpPr>
          <p:spPr>
            <a:xfrm>
              <a:off x="4866132" y="237363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代收之外，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96868" y="30403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还能为村民做什么？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4286250"/>
            <a:ext cx="3429000" cy="1905000"/>
            <a:chOff x="762000" y="4286250"/>
            <a:chExt cx="3429000" cy="1905000"/>
          </a:xfrm>
        </p:grpSpPr>
        <p:sp>
          <p:nvSpPr>
            <p:cNvPr id="9" name="Rectangle 9"/>
            <p:cNvSpPr/>
            <p:nvPr/>
          </p:nvSpPr>
          <p:spPr>
            <a:xfrm>
              <a:off x="762000" y="42862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57300" y="4591050"/>
              <a:ext cx="533400" cy="5334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7081" y="47263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2630" y="4695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代寄服务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94154" y="5013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帮村民寄件代办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5490210"/>
              <a:ext cx="1536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村民不出村即可寄快递</a:t>
              </a:r>
              <a:br/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打通双向物流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4286250"/>
            <a:ext cx="3429000" cy="1905000"/>
            <a:chOff x="4381500" y="4286250"/>
            <a:chExt cx="3429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42862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876800" y="4591050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46581" y="47263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B82C4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12130" y="4695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生活服务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13654" y="501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代缴代购代办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6404" y="5490210"/>
              <a:ext cx="1688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水电费代缴、日用品代购</a:t>
              </a:r>
              <a:br/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成为村级服务站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4286250"/>
            <a:ext cx="3429000" cy="1905000"/>
            <a:chOff x="8001000" y="4286250"/>
            <a:chExt cx="34290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8001000" y="42862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496300" y="4591050"/>
              <a:ext cx="533400" cy="533400"/>
            </a:xfrm>
            <a:prstGeom prst="ellipse">
              <a:avLst/>
            </a:prstGeom>
            <a:solidFill>
              <a:srgbClr val="E0E7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66081" y="47263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1630" y="4695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Microsoft YaHei"/>
                  <a:ea typeface="Microsoft YaHei"/>
                  <a:cs typeface="Microsoft YaHei"/>
                </a:rPr>
                <a:t>数据赋能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3154" y="5013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5A7"/>
                  </a:solidFill>
                  <a:latin typeface="Microsoft YaHei"/>
                  <a:ea typeface="Microsoft YaHei"/>
                  <a:cs typeface="Microsoft YaHei"/>
                </a:rPr>
                <a:t>用数据优化服务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904" y="5490210"/>
              <a:ext cx="1688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分析取件规律、高峰时段</a:t>
              </a:r>
              <a:br/>
              <a:r>
                <a:rPr lang="zh-CN" sz="1200" dirty="0">
                  <a:solidFill>
                    <a:srgbClr val="4A5568"/>
                  </a:solidFill>
                  <a:latin typeface="Microsoft YaHei"/>
                  <a:ea typeface="Microsoft YaHei"/>
                  <a:cs typeface="Microsoft YaHei"/>
                </a:rPr>
                <a:t>精准调配资源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91964" y="6617970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5A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E8A53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99974" y="2803208"/>
            <a:ext cx="5592051" cy="1913381"/>
            <a:chOff x="3299974" y="2803208"/>
            <a:chExt cx="5592051" cy="1913381"/>
          </a:xfrm>
        </p:grpSpPr>
        <p:sp>
          <p:nvSpPr>
            <p:cNvPr id="3" name="TextBox 3"/>
            <p:cNvSpPr txBox="1"/>
            <p:nvPr/>
          </p:nvSpPr>
          <p:spPr>
            <a:xfrm>
              <a:off x="3535680" y="280320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最后一步路，交给我来走。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0" y="3524250"/>
              <a:ext cx="1905000" cy="28575"/>
            </a:xfrm>
            <a:prstGeom prst="rect">
              <a:avLst/>
            </a:prstGeom>
            <a:solidFill>
              <a:srgbClr val="E8A53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299974" y="4012882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村级快递代收点的意义，不在于量大，而在于"有人在"。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16276" y="4393882"/>
              <a:ext cx="39594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8C5DB"/>
                  </a:solidFill>
                  <a:latin typeface="Microsoft YaHei"/>
                  <a:ea typeface="Microsoft YaHei"/>
                  <a:cs typeface="Microsoft YaHei"/>
                </a:rPr>
                <a:t>全年365天，早7到晚7半，始终在这里。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91226" y="5678805"/>
            <a:ext cx="1409548" cy="712851"/>
            <a:chOff x="5391226" y="5678805"/>
            <a:chExt cx="1409548" cy="712851"/>
          </a:xfrm>
        </p:grpSpPr>
        <p:sp>
          <p:nvSpPr>
            <p:cNvPr id="8" name="TextBox 8"/>
            <p:cNvSpPr txBox="1"/>
            <p:nvPr/>
          </p:nvSpPr>
          <p:spPr>
            <a:xfrm>
              <a:off x="5802630" y="5678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A533"/>
                  </a:solidFill>
                  <a:latin typeface="Microsoft YaHei"/>
                  <a:ea typeface="Microsoft YaHei"/>
                  <a:cs typeface="Microsoft YaHei"/>
                </a:rPr>
                <a:t>谢谢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91226" y="615696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9DB5"/>
                  </a:solidFill>
                  <a:latin typeface="Microsoft YaHei"/>
                  <a:ea typeface="Microsoft YaHei"/>
                  <a:cs typeface="Microsoft YaHei"/>
                </a:rPr>
                <a:t>赵英浩 | 2026年8月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uaidi-zongjie">
  <a:themeElements>
    <a:clrScheme name="kuaidi-zongji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uaidi-zongji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uaidi-zongj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2026-08-25T02:44:24Z</dcterms:created>
  <dcterms:modified xsi:type="dcterms:W3CDTF">2026-08-25T02:44:24Z</dcterms:modified>
  <cp:category/>
  <cp:contentStatus/>
</cp:coreProperties>
</file>